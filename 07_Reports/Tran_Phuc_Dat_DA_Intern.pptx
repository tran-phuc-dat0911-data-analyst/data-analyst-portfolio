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6" r:id="rId1"/>
  </p:sldMasterIdLst>
  <p:notesMasterIdLst>
    <p:notesMasterId r:id="rId10"/>
  </p:notesMasterIdLst>
  <p:sldIdLst>
    <p:sldId id="256" r:id="rId2"/>
    <p:sldId id="257" r:id="rId3"/>
    <p:sldId id="258" r:id="rId4"/>
    <p:sldId id="267" r:id="rId5"/>
    <p:sldId id="266" r:id="rId6"/>
    <p:sldId id="268" r:id="rId7"/>
    <p:sldId id="269" r:id="rId8"/>
    <p:sldId id="265" r:id="rId9"/>
  </p:sldIdLst>
  <p:sldSz cx="24387175" cy="13716000"/>
  <p:notesSz cx="6858000" cy="9144000"/>
  <p:embeddedFontLst>
    <p:embeddedFont>
      <p:font typeface="League Spartan" panose="020B0604020202020204" charset="0"/>
      <p:regular r:id="rId11"/>
      <p:bold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48">
          <p15:clr>
            <a:srgbClr val="A4A3A4"/>
          </p15:clr>
        </p15:guide>
        <p15:guide id="2" pos="768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IYBtsE5ovTHsWqMIBhghxwaRP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92" y="96"/>
      </p:cViewPr>
      <p:guideLst>
        <p:guide orient="horz" pos="8448"/>
        <p:guide pos="7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4663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99025" rIns="99025" bIns="990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62dd08a28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62dd08a28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2e62dd08a28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8119170C-3633-C8E8-6495-A6B48A2E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62dd08a28_1_4:notes">
            <a:extLst>
              <a:ext uri="{FF2B5EF4-FFF2-40B4-BE49-F238E27FC236}">
                <a16:creationId xmlns:a16="http://schemas.microsoft.com/office/drawing/2014/main" id="{DBD9425C-5004-2D68-E8BA-1B2F0D005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62dd08a28_1_4:notes">
            <a:extLst>
              <a:ext uri="{FF2B5EF4-FFF2-40B4-BE49-F238E27FC236}">
                <a16:creationId xmlns:a16="http://schemas.microsoft.com/office/drawing/2014/main" id="{D9750CB5-4231-B986-E694-C89593691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2e62dd08a28_1_4:notes">
            <a:extLst>
              <a:ext uri="{FF2B5EF4-FFF2-40B4-BE49-F238E27FC236}">
                <a16:creationId xmlns:a16="http://schemas.microsoft.com/office/drawing/2014/main" id="{FAF94109-C63A-918B-5A23-3ADCCA389B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4483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9CF31BE8-F90C-9EED-BE41-281AAF7B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62dd08a28_1_4:notes">
            <a:extLst>
              <a:ext uri="{FF2B5EF4-FFF2-40B4-BE49-F238E27FC236}">
                <a16:creationId xmlns:a16="http://schemas.microsoft.com/office/drawing/2014/main" id="{10E066E0-8244-C5F5-2D75-359D5A1D8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62dd08a28_1_4:notes">
            <a:extLst>
              <a:ext uri="{FF2B5EF4-FFF2-40B4-BE49-F238E27FC236}">
                <a16:creationId xmlns:a16="http://schemas.microsoft.com/office/drawing/2014/main" id="{8DFD1CE6-20C3-F745-F162-16BC8593CC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2e62dd08a28_1_4:notes">
            <a:extLst>
              <a:ext uri="{FF2B5EF4-FFF2-40B4-BE49-F238E27FC236}">
                <a16:creationId xmlns:a16="http://schemas.microsoft.com/office/drawing/2014/main" id="{0B5B2645-452A-55B1-954C-89B43424C4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5118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AE8B4A89-E63F-AACC-E539-8ADCE731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62dd08a28_1_4:notes">
            <a:extLst>
              <a:ext uri="{FF2B5EF4-FFF2-40B4-BE49-F238E27FC236}">
                <a16:creationId xmlns:a16="http://schemas.microsoft.com/office/drawing/2014/main" id="{07EEB7EB-D9F0-8C16-4047-6D77617CA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62dd08a28_1_4:notes">
            <a:extLst>
              <a:ext uri="{FF2B5EF4-FFF2-40B4-BE49-F238E27FC236}">
                <a16:creationId xmlns:a16="http://schemas.microsoft.com/office/drawing/2014/main" id="{383E9AE1-E1A7-7C53-7A50-143AC93E0C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2e62dd08a28_1_4:notes">
            <a:extLst>
              <a:ext uri="{FF2B5EF4-FFF2-40B4-BE49-F238E27FC236}">
                <a16:creationId xmlns:a16="http://schemas.microsoft.com/office/drawing/2014/main" id="{AD1F32E4-38A1-53E4-7B48-AA5B8DCCF0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4469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29926ef4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133" name="Google Shape;133;g2e29926ef4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CF75-F170-7F0E-F4D3-9B08C2C7D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7C799-114D-C5E1-69AB-BED8435CF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35BEC-AB72-3128-1759-60F55256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10764-92B4-EE85-25E6-DF4F52DC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51B09-F528-F9CF-9BF8-BB0FD9A2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1370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5A4A-E98D-3BCE-C113-FD0BCEE2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4FCB4-F640-B64D-E65B-FEE2AC23F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BA489-34DF-10B9-2767-2982E24C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6E4AB-228F-21AE-29ED-C090E9B1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BCA36-44CD-F288-3803-2F95E76C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91715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2BD4-2915-F9C2-D3D1-9D5144D6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917" y="3419477"/>
            <a:ext cx="21033938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BE5DF-4C27-5903-AAC1-B19CE7AC6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317D5-4BB6-286B-3A8D-6B9BCC2E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C5D03-688A-8723-AE46-2E488849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06709-BC98-08CB-0218-132F8F3F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2895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9D0D-52B1-2E28-BE08-E211C160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0528D-ABAB-4A7D-BEA2-85B209113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618" y="3651250"/>
            <a:ext cx="10364549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6C498-C872-A2A1-A320-8ED2EC46B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6008" y="3651250"/>
            <a:ext cx="10364549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AAF2C-CC5A-187A-8C48-C15DE92AE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0DAC7-7093-8E1E-566D-DC3909D4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394C9-3C5A-E777-3D62-666D674C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017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2EC8-487D-9B3F-1A84-22F148185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795" y="730251"/>
            <a:ext cx="21033938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1B5A3-0807-E4AF-5B6D-0A58BA41D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796" y="3362326"/>
            <a:ext cx="10316917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3E966-1DB3-AB00-FCCF-4F10005CA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796" y="5010150"/>
            <a:ext cx="1031691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C73BC-7D2E-20F5-669F-6215C1CD3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6007" y="3362326"/>
            <a:ext cx="1036772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FF13C-F006-BC85-BD82-641C1D5E9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6007" y="5010150"/>
            <a:ext cx="1036772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486E6B-E133-0E7C-7E86-14C73DF1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52060-5157-2FC3-0909-A288C6090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9F08F4-FC8A-1FE8-DDF4-4C8C3793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1119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DFA4E-121C-4C91-E542-FC8E70AC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87B18-3362-7CF9-5AC7-C843A16F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9ABDB-3608-F6ED-73A5-A28DC4D19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F64BD-AB45-A380-9E75-570BD426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3791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E25C9-5982-6AF0-1F4A-8AB72C24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55D1E-B905-A381-EBE3-3234B7EC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CA0CE-9E78-DC2F-E0B6-31966EF4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19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51E8-B7F7-2834-FA1E-7A89C3F91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52FB0-98E5-7263-A59C-D883FBF80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7726" y="1974851"/>
            <a:ext cx="1234600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8DA6E-59F0-7FE6-BDD2-4A8765425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2CA89-96DB-B042-1E59-C4E4B6CA0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C5D1F-B197-39FA-E9A4-CBF733E4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6309C-B8C2-0C95-C136-61BB00C8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751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7732-2320-B984-4933-F21B7179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2C062-2D4B-D7C9-5EB1-D217A4751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7726" y="1974851"/>
            <a:ext cx="12346007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0C7E9-CA8C-A315-E003-44B2D3487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64A8F-5E80-625B-9CCF-CB9C4BA3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C8B3E-FAEC-0AFF-3B53-41F2F1FBA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B8F95-AA1F-F81A-4B75-2ABBC33B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276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8524-5019-77E2-C391-C3B0D1746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F39DF-FDA1-D7E6-1C16-50573A0C3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79BC0-6F4B-E540-8783-4D121B48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BB317-5B1C-6FE1-6854-015CB337A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C0F9-06C6-9983-746B-2AB40D871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4962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2A5BCA-3A17-C9B7-8EA8-A2E141635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52072" y="730250"/>
            <a:ext cx="5258485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4A152-0C1B-2E13-E543-9BC05C56F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618" y="730250"/>
            <a:ext cx="15470614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E0C27-9A6D-2019-3139-4BF90A6F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93450-0BD1-B2EF-6F87-7141C4E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4DFA5-A9C7-15C6-296D-66B97991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1009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Only">
  <p:cSld name="Title-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7"/>
          <p:cNvSpPr txBox="1">
            <a:spLocks noGrp="1"/>
          </p:cNvSpPr>
          <p:nvPr>
            <p:ph type="title"/>
          </p:nvPr>
        </p:nvSpPr>
        <p:spPr>
          <a:xfrm>
            <a:off x="1064042" y="812801"/>
            <a:ext cx="19352585" cy="105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29374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7"/>
          <p:cNvSpPr txBox="1">
            <a:spLocks noGrp="1"/>
          </p:cNvSpPr>
          <p:nvPr>
            <p:ph type="sldNum" idx="12"/>
          </p:nvPr>
        </p:nvSpPr>
        <p:spPr>
          <a:xfrm>
            <a:off x="23113512" y="13112751"/>
            <a:ext cx="910906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2840795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833F5-6F6A-0E16-0B44-58062836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0830F-37F8-1C87-AB8C-FC6F46BA1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05CD1-C044-1BC9-D860-6734EEF09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15CCB-E08C-48D4-96BA-D44040BE813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45DF8-6495-2256-67BE-73FEF5400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B8DC-DCB9-801C-EDCD-6A313C38A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39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transition spd="med">
    <p:fade/>
  </p:transition>
  <p:hf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138"/>
          <p:cNvSpPr/>
          <p:nvPr/>
        </p:nvSpPr>
        <p:spPr>
          <a:xfrm>
            <a:off x="19701321" y="512958"/>
            <a:ext cx="4059044" cy="182880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38"/>
          <p:cNvSpPr/>
          <p:nvPr/>
        </p:nvSpPr>
        <p:spPr>
          <a:xfrm>
            <a:off x="389220" y="248099"/>
            <a:ext cx="23634000" cy="12479700"/>
          </a:xfrm>
          <a:prstGeom prst="rect">
            <a:avLst/>
          </a:prstGeom>
          <a:gradFill>
            <a:gsLst>
              <a:gs pos="0">
                <a:srgbClr val="254969"/>
              </a:gs>
              <a:gs pos="50000">
                <a:srgbClr val="366A99"/>
              </a:gs>
              <a:gs pos="100000">
                <a:srgbClr val="427FB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" name="Google Shape;44;p138"/>
          <p:cNvGrpSpPr/>
          <p:nvPr/>
        </p:nvGrpSpPr>
        <p:grpSpPr>
          <a:xfrm>
            <a:off x="18057636" y="5925373"/>
            <a:ext cx="5962162" cy="6417734"/>
            <a:chOff x="9206969" y="2963333"/>
            <a:chExt cx="2981858" cy="3208867"/>
          </a:xfrm>
        </p:grpSpPr>
        <p:cxnSp>
          <p:nvCxnSpPr>
            <p:cNvPr id="45" name="Google Shape;45;p138"/>
            <p:cNvCxnSpPr/>
            <p:nvPr/>
          </p:nvCxnSpPr>
          <p:spPr>
            <a:xfrm flipH="1">
              <a:off x="11276012" y="2963333"/>
              <a:ext cx="912814" cy="912812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</p:cxnSp>
        <p:cxnSp>
          <p:nvCxnSpPr>
            <p:cNvPr id="46" name="Google Shape;46;p138"/>
            <p:cNvCxnSpPr/>
            <p:nvPr/>
          </p:nvCxnSpPr>
          <p:spPr>
            <a:xfrm flipH="1">
              <a:off x="9206969" y="3190344"/>
              <a:ext cx="2981857" cy="2981856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</p:cxnSp>
        <p:cxnSp>
          <p:nvCxnSpPr>
            <p:cNvPr id="47" name="Google Shape;47;p138"/>
            <p:cNvCxnSpPr/>
            <p:nvPr/>
          </p:nvCxnSpPr>
          <p:spPr>
            <a:xfrm flipH="1">
              <a:off x="10292292" y="3285067"/>
              <a:ext cx="1896534" cy="1896533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</p:cxnSp>
        <p:cxnSp>
          <p:nvCxnSpPr>
            <p:cNvPr id="48" name="Google Shape;48;p138"/>
            <p:cNvCxnSpPr/>
            <p:nvPr/>
          </p:nvCxnSpPr>
          <p:spPr>
            <a:xfrm flipH="1">
              <a:off x="10443103" y="3131080"/>
              <a:ext cx="1745722" cy="174572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</p:cxnSp>
        <p:cxnSp>
          <p:nvCxnSpPr>
            <p:cNvPr id="49" name="Google Shape;49;p138"/>
            <p:cNvCxnSpPr/>
            <p:nvPr/>
          </p:nvCxnSpPr>
          <p:spPr>
            <a:xfrm flipH="1">
              <a:off x="10918826" y="3683001"/>
              <a:ext cx="1270001" cy="1269999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</p:cxnSp>
      </p:grpSp>
      <p:grpSp>
        <p:nvGrpSpPr>
          <p:cNvPr id="50" name="Google Shape;50;p138"/>
          <p:cNvGrpSpPr/>
          <p:nvPr/>
        </p:nvGrpSpPr>
        <p:grpSpPr>
          <a:xfrm rot="10800000">
            <a:off x="392688" y="676341"/>
            <a:ext cx="5962162" cy="6417734"/>
            <a:chOff x="9206969" y="2963333"/>
            <a:chExt cx="2981858" cy="3208867"/>
          </a:xfrm>
        </p:grpSpPr>
        <p:cxnSp>
          <p:nvCxnSpPr>
            <p:cNvPr id="51" name="Google Shape;51;p138"/>
            <p:cNvCxnSpPr/>
            <p:nvPr/>
          </p:nvCxnSpPr>
          <p:spPr>
            <a:xfrm flipH="1">
              <a:off x="11276012" y="2963333"/>
              <a:ext cx="912814" cy="912812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</p:cxnSp>
        <p:cxnSp>
          <p:nvCxnSpPr>
            <p:cNvPr id="52" name="Google Shape;52;p138"/>
            <p:cNvCxnSpPr/>
            <p:nvPr/>
          </p:nvCxnSpPr>
          <p:spPr>
            <a:xfrm flipH="1">
              <a:off x="9206969" y="3190344"/>
              <a:ext cx="2981857" cy="2981856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</p:cxnSp>
        <p:cxnSp>
          <p:nvCxnSpPr>
            <p:cNvPr id="53" name="Google Shape;53;p138"/>
            <p:cNvCxnSpPr/>
            <p:nvPr/>
          </p:nvCxnSpPr>
          <p:spPr>
            <a:xfrm flipH="1">
              <a:off x="10292292" y="3285067"/>
              <a:ext cx="1896534" cy="1896533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</p:cxnSp>
        <p:cxnSp>
          <p:nvCxnSpPr>
            <p:cNvPr id="54" name="Google Shape;54;p138"/>
            <p:cNvCxnSpPr/>
            <p:nvPr/>
          </p:nvCxnSpPr>
          <p:spPr>
            <a:xfrm flipH="1">
              <a:off x="10443103" y="3131080"/>
              <a:ext cx="1745722" cy="174572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</p:cxnSp>
        <p:cxnSp>
          <p:nvCxnSpPr>
            <p:cNvPr id="55" name="Google Shape;55;p138"/>
            <p:cNvCxnSpPr/>
            <p:nvPr/>
          </p:nvCxnSpPr>
          <p:spPr>
            <a:xfrm flipH="1">
              <a:off x="10918826" y="3683001"/>
              <a:ext cx="1270001" cy="1269999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59" name="Google Shape;59;p138"/>
          <p:cNvSpPr txBox="1"/>
          <p:nvPr/>
        </p:nvSpPr>
        <p:spPr>
          <a:xfrm>
            <a:off x="2217850" y="4066535"/>
            <a:ext cx="19964400" cy="50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50000"/>
              </a:lnSpc>
              <a:buSzPts val="11500"/>
            </a:pPr>
            <a:r>
              <a:rPr lang="en-US" sz="9500" b="1" dirty="0" err="1">
                <a:solidFill>
                  <a:schemeClr val="bg1"/>
                </a:solidFill>
              </a:rPr>
              <a:t>Giới</a:t>
            </a:r>
            <a:r>
              <a:rPr lang="en-US" sz="9500" b="1" dirty="0">
                <a:solidFill>
                  <a:schemeClr val="bg1"/>
                </a:solidFill>
              </a:rPr>
              <a:t> </a:t>
            </a:r>
            <a:r>
              <a:rPr lang="en-US" sz="9500" b="1" dirty="0" err="1">
                <a:solidFill>
                  <a:schemeClr val="bg1"/>
                </a:solidFill>
              </a:rPr>
              <a:t>thiệu</a:t>
            </a:r>
            <a:r>
              <a:rPr lang="en-US" sz="9500" b="1" dirty="0">
                <a:solidFill>
                  <a:schemeClr val="bg1"/>
                </a:solidFill>
              </a:rPr>
              <a:t> </a:t>
            </a:r>
            <a:r>
              <a:rPr lang="en-US" sz="9500" b="1" dirty="0" err="1">
                <a:solidFill>
                  <a:schemeClr val="bg1"/>
                </a:solidFill>
              </a:rPr>
              <a:t>về</a:t>
            </a:r>
            <a:r>
              <a:rPr lang="en-US" sz="9500" b="1" dirty="0">
                <a:solidFill>
                  <a:schemeClr val="bg1"/>
                </a:solidFill>
              </a:rPr>
              <a:t> </a:t>
            </a:r>
          </a:p>
          <a:p>
            <a:pPr algn="ctr">
              <a:lnSpc>
                <a:spcPct val="150000"/>
              </a:lnSpc>
              <a:buSzPts val="11500"/>
            </a:pPr>
            <a:r>
              <a:rPr lang="en-US" sz="9600" b="1" dirty="0">
                <a:solidFill>
                  <a:schemeClr val="bg1"/>
                </a:solidFill>
              </a:rPr>
              <a:t>Marketing</a:t>
            </a:r>
            <a:r>
              <a:rPr lang="en-US" sz="9500" b="1" dirty="0">
                <a:solidFill>
                  <a:schemeClr val="bg1"/>
                </a:solidFill>
              </a:rPr>
              <a:t> Campaigns Dashboard</a:t>
            </a:r>
            <a:endParaRPr sz="5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8"/>
          <p:cNvSpPr txBox="1"/>
          <p:nvPr/>
        </p:nvSpPr>
        <p:spPr>
          <a:xfrm>
            <a:off x="7668590" y="11605814"/>
            <a:ext cx="8872152" cy="737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600" b="0" i="1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Hà </a:t>
            </a:r>
            <a:r>
              <a:rPr lang="en-US" sz="3600" b="0" i="1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Nội</a:t>
            </a:r>
            <a:r>
              <a:rPr lang="en-US" sz="3600" b="0" i="1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26</a:t>
            </a:r>
            <a:r>
              <a:rPr lang="en-US" sz="3600" i="1" dirty="0">
                <a:solidFill>
                  <a:schemeClr val="lt1"/>
                </a:solidFill>
              </a:rPr>
              <a:t>-12-2025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title"/>
          </p:nvPr>
        </p:nvSpPr>
        <p:spPr>
          <a:xfrm>
            <a:off x="1676618" y="487822"/>
            <a:ext cx="21033938" cy="163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CHÍNH </a:t>
            </a:r>
            <a:endParaRPr sz="8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Google Shape;66;p2"/>
          <p:cNvGrpSpPr/>
          <p:nvPr/>
        </p:nvGrpSpPr>
        <p:grpSpPr>
          <a:xfrm>
            <a:off x="1758735" y="1902053"/>
            <a:ext cx="24663686" cy="11373871"/>
            <a:chOff x="1238875" y="1147251"/>
            <a:chExt cx="8591523" cy="4329203"/>
          </a:xfrm>
        </p:grpSpPr>
        <p:sp>
          <p:nvSpPr>
            <p:cNvPr id="67" name="Google Shape;67;p2"/>
            <p:cNvSpPr txBox="1"/>
            <p:nvPr/>
          </p:nvSpPr>
          <p:spPr>
            <a:xfrm>
              <a:off x="1876696" y="1147251"/>
              <a:ext cx="7953702" cy="4329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00" tIns="91400" rIns="182800" bIns="91400" anchor="t" anchorCtr="0">
              <a:noAutofit/>
            </a:bodyPr>
            <a:lstStyle/>
            <a:p>
              <a:pPr lvl="0">
                <a:spcBef>
                  <a:spcPts val="4800"/>
                </a:spcBef>
                <a:buSzPts val="5600"/>
              </a:pPr>
              <a:r>
                <a: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 &amp; Objective</a:t>
              </a:r>
            </a:p>
            <a:p>
              <a:pPr lvl="0">
                <a:spcBef>
                  <a:spcPts val="4800"/>
                </a:spcBef>
                <a:buSzPts val="5600"/>
              </a:pPr>
              <a:r>
                <a: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Executive Summary</a:t>
              </a:r>
            </a:p>
            <a:p>
              <a:pPr lvl="0">
                <a:spcBef>
                  <a:spcPts val="4800"/>
                </a:spcBef>
                <a:buSzPts val="5600"/>
              </a:pPr>
              <a:r>
                <a: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Sales Performance Analysis</a:t>
              </a:r>
            </a:p>
            <a:p>
              <a:pPr lvl="0">
                <a:spcBef>
                  <a:spcPts val="4800"/>
                </a:spcBef>
                <a:buSzPts val="5600"/>
              </a:pPr>
              <a:r>
                <a: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Marketing &amp; Growth Analysis</a:t>
              </a:r>
            </a:p>
            <a:p>
              <a:pPr lvl="0">
                <a:spcBef>
                  <a:spcPts val="4800"/>
                </a:spcBef>
                <a:buSzPts val="5600"/>
              </a:pPr>
              <a:r>
                <a: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Limitations &amp; Next Steps</a:t>
              </a:r>
              <a:endParaRPr sz="4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238875" y="1413219"/>
              <a:ext cx="529500" cy="268800"/>
            </a:xfrm>
            <a:prstGeom prst="homePlat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spcFirstLastPara="1" wrap="square" lIns="182800" tIns="91400" rIns="182800" bIns="91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238875" y="1919178"/>
              <a:ext cx="529500" cy="268800"/>
            </a:xfrm>
            <a:prstGeom prst="homePlat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spcFirstLastPara="1" wrap="square" lIns="182800" tIns="91400" rIns="182800" bIns="91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238875" y="2435261"/>
              <a:ext cx="529500" cy="268800"/>
            </a:xfrm>
            <a:prstGeom prst="homePlat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spcFirstLastPara="1" wrap="square" lIns="182800" tIns="91400" rIns="182800" bIns="91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2"/>
          <p:cNvSpPr/>
          <p:nvPr/>
        </p:nvSpPr>
        <p:spPr>
          <a:xfrm>
            <a:off x="1758671" y="6611453"/>
            <a:ext cx="1520100" cy="7167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182800" tIns="91400" rIns="182800" bIns="914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758671" y="8025428"/>
            <a:ext cx="1520100" cy="7167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182800" tIns="91400" rIns="182800" bIns="914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62dd08a28_1_4"/>
          <p:cNvSpPr txBox="1">
            <a:spLocks noGrp="1"/>
          </p:cNvSpPr>
          <p:nvPr>
            <p:ph type="title"/>
          </p:nvPr>
        </p:nvSpPr>
        <p:spPr>
          <a:xfrm>
            <a:off x="2944368" y="986948"/>
            <a:ext cx="16045910" cy="706203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spcBef>
                <a:spcPts val="4800"/>
              </a:spcBef>
              <a:buSzPts val="5600"/>
            </a:pPr>
            <a:r>
              <a:rPr lang="en-US" sz="4800" dirty="0"/>
              <a:t>Introduction &amp; Objective</a:t>
            </a:r>
          </a:p>
        </p:txBody>
      </p:sp>
      <p:sp>
        <p:nvSpPr>
          <p:cNvPr id="82" name="Google Shape;82;g2e62dd08a28_1_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0F3C9-D105-17BE-5C88-772143D3A57C}"/>
              </a:ext>
            </a:extLst>
          </p:cNvPr>
          <p:cNvSpPr txBox="1"/>
          <p:nvPr/>
        </p:nvSpPr>
        <p:spPr>
          <a:xfrm>
            <a:off x="1079517" y="2456795"/>
            <a:ext cx="2330765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ty Dev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marketing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Dev_Campaigns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marketing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vi-V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tiêu:</a:t>
            </a:r>
          </a:p>
          <a:p>
            <a:pPr lvl="1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hiệu suất bán hàng và marketing</a:t>
            </a:r>
          </a:p>
          <a:p>
            <a:pPr lvl="1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khu vực, bang và chiến dịch hiệu quả</a:t>
            </a:r>
          </a:p>
          <a:p>
            <a:pPr lvl="1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Hỗ trợ ra quyết định phân bổ ngân sách và tăng trưởng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68;p2">
            <a:extLst>
              <a:ext uri="{FF2B5EF4-FFF2-40B4-BE49-F238E27FC236}">
                <a16:creationId xmlns:a16="http://schemas.microsoft.com/office/drawing/2014/main" id="{DF784D16-3335-A5D2-F103-250A40845519}"/>
              </a:ext>
            </a:extLst>
          </p:cNvPr>
          <p:cNvSpPr/>
          <p:nvPr/>
        </p:nvSpPr>
        <p:spPr>
          <a:xfrm>
            <a:off x="1228634" y="986949"/>
            <a:ext cx="1386550" cy="70620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182800" tIns="91400" rIns="182800" bIns="914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7ACE3AF4-5B17-8783-739B-5DB66B91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62dd08a28_1_4">
            <a:extLst>
              <a:ext uri="{FF2B5EF4-FFF2-40B4-BE49-F238E27FC236}">
                <a16:creationId xmlns:a16="http://schemas.microsoft.com/office/drawing/2014/main" id="{4E3D53E4-EB13-A403-0964-42E33D2C3F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94980" y="679867"/>
            <a:ext cx="16045910" cy="706203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>
              <a:spcBef>
                <a:spcPts val="4800"/>
              </a:spcBef>
              <a:buSzPts val="5600"/>
            </a:pP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  <a:endParaRPr lang="en-US" sz="4800" dirty="0"/>
          </a:p>
        </p:txBody>
      </p:sp>
      <p:sp>
        <p:nvSpPr>
          <p:cNvPr id="82" name="Google Shape;82;g2e62dd08a28_1_4">
            <a:extLst>
              <a:ext uri="{FF2B5EF4-FFF2-40B4-BE49-F238E27FC236}">
                <a16:creationId xmlns:a16="http://schemas.microsoft.com/office/drawing/2014/main" id="{9AF25C25-B63C-5D58-881F-CCE3B5A96361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" name="Google Shape;68;p2">
            <a:extLst>
              <a:ext uri="{FF2B5EF4-FFF2-40B4-BE49-F238E27FC236}">
                <a16:creationId xmlns:a16="http://schemas.microsoft.com/office/drawing/2014/main" id="{FFA64FE9-D60E-6C0E-7705-935369C14955}"/>
              </a:ext>
            </a:extLst>
          </p:cNvPr>
          <p:cNvSpPr/>
          <p:nvPr/>
        </p:nvSpPr>
        <p:spPr>
          <a:xfrm>
            <a:off x="1228634" y="675447"/>
            <a:ext cx="1386550" cy="70620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182800" tIns="91400" rIns="182800" bIns="914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B8CF3F-EB97-B7AB-6BF9-311B29F73F04}"/>
              </a:ext>
            </a:extLst>
          </p:cNvPr>
          <p:cNvSpPr txBox="1"/>
          <p:nvPr/>
        </p:nvSpPr>
        <p:spPr>
          <a:xfrm>
            <a:off x="1228634" y="1712969"/>
            <a:ext cx="130576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doanh thu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2014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~$297.5M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với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15.4K đơn hàng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175 khách hàng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AOV cao (~$19.25K)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 thấy doanh thu đến từ các đơn hàng giá trị lớn.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C5180C-B0A8-F98B-6178-9DEDE8C1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34" y="2722813"/>
            <a:ext cx="6708784" cy="7092161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7BE89E9B-E8F9-E1D2-E4CA-2C8BEBF04782}"/>
              </a:ext>
            </a:extLst>
          </p:cNvPr>
          <p:cNvSpPr/>
          <p:nvPr/>
        </p:nvSpPr>
        <p:spPr>
          <a:xfrm>
            <a:off x="8233748" y="4219241"/>
            <a:ext cx="2034476" cy="9541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1418F40-1497-9689-089B-8A3D990CD2E0}"/>
              </a:ext>
            </a:extLst>
          </p:cNvPr>
          <p:cNvSpPr/>
          <p:nvPr/>
        </p:nvSpPr>
        <p:spPr>
          <a:xfrm>
            <a:off x="8233748" y="7279215"/>
            <a:ext cx="2162493" cy="9541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EB8B4D-7021-622E-438D-8F7EB47A4754}"/>
              </a:ext>
            </a:extLst>
          </p:cNvPr>
          <p:cNvSpPr txBox="1"/>
          <p:nvPr/>
        </p:nvSpPr>
        <p:spPr>
          <a:xfrm>
            <a:off x="10725506" y="7279215"/>
            <a:ext cx="51254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(~30%)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994F9E-023F-963C-3639-6512CBB38662}"/>
              </a:ext>
            </a:extLst>
          </p:cNvPr>
          <p:cNvSpPr txBox="1"/>
          <p:nvPr/>
        </p:nvSpPr>
        <p:spPr>
          <a:xfrm>
            <a:off x="10725507" y="4231535"/>
            <a:ext cx="49107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California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bang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19%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5DF81A1-6B10-136A-FB1E-E2785886C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634" y="9993611"/>
            <a:ext cx="6708784" cy="3449340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DFD1AFBE-5504-E3A3-0909-8D72A84F1690}"/>
              </a:ext>
            </a:extLst>
          </p:cNvPr>
          <p:cNvSpPr/>
          <p:nvPr/>
        </p:nvSpPr>
        <p:spPr>
          <a:xfrm>
            <a:off x="8169739" y="11241227"/>
            <a:ext cx="2162493" cy="9541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8D954C-F3C7-5245-E499-CCA290ED4AFD}"/>
              </a:ext>
            </a:extLst>
          </p:cNvPr>
          <p:cNvSpPr txBox="1"/>
          <p:nvPr/>
        </p:nvSpPr>
        <p:spPr>
          <a:xfrm>
            <a:off x="10725506" y="11241227"/>
            <a:ext cx="44169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mùa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2695D480-4241-C807-492D-49AD56977833}"/>
              </a:ext>
            </a:extLst>
          </p:cNvPr>
          <p:cNvSpPr/>
          <p:nvPr/>
        </p:nvSpPr>
        <p:spPr>
          <a:xfrm>
            <a:off x="15361920" y="4700016"/>
            <a:ext cx="2162493" cy="68762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DEA3A94-49E9-751C-C618-C545FA999FD7}"/>
              </a:ext>
            </a:extLst>
          </p:cNvPr>
          <p:cNvSpPr/>
          <p:nvPr/>
        </p:nvSpPr>
        <p:spPr>
          <a:xfrm>
            <a:off x="17577690" y="6629036"/>
            <a:ext cx="6605821" cy="25968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marketing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82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01D7C7F-620E-A9A5-3E19-A616DED40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62dd08a28_1_4">
            <a:extLst>
              <a:ext uri="{FF2B5EF4-FFF2-40B4-BE49-F238E27FC236}">
                <a16:creationId xmlns:a16="http://schemas.microsoft.com/office/drawing/2014/main" id="{9D42A7C4-CC4A-2569-0A2F-C2CFCF6E15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94980" y="679867"/>
            <a:ext cx="16045910" cy="706203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spcBef>
                <a:spcPts val="4800"/>
              </a:spcBef>
              <a:buSzPts val="5600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Analysis</a:t>
            </a:r>
          </a:p>
        </p:txBody>
      </p:sp>
      <p:sp>
        <p:nvSpPr>
          <p:cNvPr id="82" name="Google Shape;82;g2e62dd08a28_1_4">
            <a:extLst>
              <a:ext uri="{FF2B5EF4-FFF2-40B4-BE49-F238E27FC236}">
                <a16:creationId xmlns:a16="http://schemas.microsoft.com/office/drawing/2014/main" id="{30616532-F412-59F1-384A-62225007A53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" name="Google Shape;68;p2">
            <a:extLst>
              <a:ext uri="{FF2B5EF4-FFF2-40B4-BE49-F238E27FC236}">
                <a16:creationId xmlns:a16="http://schemas.microsoft.com/office/drawing/2014/main" id="{6D680A67-162C-8CD0-43F4-A04760C905DA}"/>
              </a:ext>
            </a:extLst>
          </p:cNvPr>
          <p:cNvSpPr/>
          <p:nvPr/>
        </p:nvSpPr>
        <p:spPr>
          <a:xfrm>
            <a:off x="1228634" y="675447"/>
            <a:ext cx="1386550" cy="70620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182800" tIns="91400" rIns="182800" bIns="914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0E789-F2BE-1174-267B-9B7970B9BB89}"/>
              </a:ext>
            </a:extLst>
          </p:cNvPr>
          <p:cNvSpPr txBox="1"/>
          <p:nvPr/>
        </p:nvSpPr>
        <p:spPr>
          <a:xfrm>
            <a:off x="1228634" y="1877718"/>
            <a:ext cx="13806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Doanh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top bang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6FADF8C-B0BE-D83B-3375-D95DC225E242}"/>
              </a:ext>
            </a:extLst>
          </p:cNvPr>
          <p:cNvSpPr/>
          <p:nvPr/>
        </p:nvSpPr>
        <p:spPr>
          <a:xfrm>
            <a:off x="8233748" y="4219241"/>
            <a:ext cx="2034476" cy="9541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DA7C8D-3085-CF00-B551-645F25CA4D33}"/>
              </a:ext>
            </a:extLst>
          </p:cNvPr>
          <p:cNvSpPr txBox="1"/>
          <p:nvPr/>
        </p:nvSpPr>
        <p:spPr>
          <a:xfrm>
            <a:off x="9299456" y="7008511"/>
            <a:ext cx="58430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California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vượt trội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b="1" dirty="0">
                <a:latin typeface="+mj-lt"/>
                <a:cs typeface="Times New Roman" panose="02020603050405020304" pitchFamily="18" charset="0"/>
              </a:rPr>
              <a:t>AOV </a:t>
            </a:r>
            <a:r>
              <a:rPr lang="en-US" sz="2800" dirty="0" err="1">
                <a:latin typeface="+mj-lt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+mj-lt"/>
                <a:cs typeface="Times New Roman" panose="02020603050405020304" pitchFamily="18" charset="0"/>
              </a:rPr>
              <a:t>quá</a:t>
            </a:r>
            <a:r>
              <a:rPr lang="vi-VN" sz="2800" dirty="0">
                <a:latin typeface="+mj-lt"/>
              </a:rPr>
              <a:t> cao</a:t>
            </a:r>
            <a:endParaRPr lang="en-US" sz="28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952E19-C0CE-79FD-E19F-726BBBC1E1A6}"/>
              </a:ext>
            </a:extLst>
          </p:cNvPr>
          <p:cNvSpPr txBox="1"/>
          <p:nvPr/>
        </p:nvSpPr>
        <p:spPr>
          <a:xfrm>
            <a:off x="10396241" y="4231535"/>
            <a:ext cx="47462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AOV giữa các khu vực tương đối ổn định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dao động quanh ~$19K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CF2800-12F0-B7EA-FAEC-F6F01A8EC3B6}"/>
              </a:ext>
            </a:extLst>
          </p:cNvPr>
          <p:cNvSpPr txBox="1"/>
          <p:nvPr/>
        </p:nvSpPr>
        <p:spPr>
          <a:xfrm>
            <a:off x="9299456" y="8560676"/>
            <a:ext cx="5735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Illinois, Texas, Florida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AOV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64E30237-8DC8-3E27-8297-0B03625AE8CB}"/>
              </a:ext>
            </a:extLst>
          </p:cNvPr>
          <p:cNvSpPr/>
          <p:nvPr/>
        </p:nvSpPr>
        <p:spPr>
          <a:xfrm>
            <a:off x="15361920" y="4700016"/>
            <a:ext cx="2162493" cy="643737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74F7C0A-F406-C1B7-5B5B-D2C558F481FE}"/>
              </a:ext>
            </a:extLst>
          </p:cNvPr>
          <p:cNvSpPr/>
          <p:nvPr/>
        </p:nvSpPr>
        <p:spPr>
          <a:xfrm>
            <a:off x="17524413" y="5031895"/>
            <a:ext cx="6605821" cy="25968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Ưu tiên nâng AOV tại các bang có Orders cao và mở rộng ngân sách tại các bang có AOV cao để tối ưu tăng trưởng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A6517B3-C58A-ABC2-CD2E-09ED222B4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757" y="3163959"/>
            <a:ext cx="6572538" cy="316638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2333FA8-5929-A4A7-2E0A-0AE0E4277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635" y="6857999"/>
            <a:ext cx="7659334" cy="498028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F737268-2129-F3ED-332F-FFDF28DE022F}"/>
              </a:ext>
            </a:extLst>
          </p:cNvPr>
          <p:cNvSpPr txBox="1"/>
          <p:nvPr/>
        </p:nvSpPr>
        <p:spPr>
          <a:xfrm>
            <a:off x="9299455" y="10204704"/>
            <a:ext cx="60624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York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Washington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AOV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Orders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2F88210-4E88-00D0-2A52-370C25D499BF}"/>
              </a:ext>
            </a:extLst>
          </p:cNvPr>
          <p:cNvSpPr/>
          <p:nvPr/>
        </p:nvSpPr>
        <p:spPr>
          <a:xfrm>
            <a:off x="17524413" y="8300305"/>
            <a:ext cx="6605821" cy="25968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hút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314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5902B2A0-2730-5C84-3029-915F796C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62dd08a28_1_4">
            <a:extLst>
              <a:ext uri="{FF2B5EF4-FFF2-40B4-BE49-F238E27FC236}">
                <a16:creationId xmlns:a16="http://schemas.microsoft.com/office/drawing/2014/main" id="{70AB73F0-ACFE-D51B-3ED2-17763FCF9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94980" y="679867"/>
            <a:ext cx="16045910" cy="706203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spcBef>
                <a:spcPts val="4800"/>
              </a:spcBef>
              <a:buSzPts val="5600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&amp; Growth Analysis</a:t>
            </a:r>
          </a:p>
        </p:txBody>
      </p:sp>
      <p:sp>
        <p:nvSpPr>
          <p:cNvPr id="82" name="Google Shape;82;g2e62dd08a28_1_4">
            <a:extLst>
              <a:ext uri="{FF2B5EF4-FFF2-40B4-BE49-F238E27FC236}">
                <a16:creationId xmlns:a16="http://schemas.microsoft.com/office/drawing/2014/main" id="{A8FB968F-C291-F26F-09B3-69C584638D21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" name="Google Shape;68;p2">
            <a:extLst>
              <a:ext uri="{FF2B5EF4-FFF2-40B4-BE49-F238E27FC236}">
                <a16:creationId xmlns:a16="http://schemas.microsoft.com/office/drawing/2014/main" id="{993E67A3-6350-E963-746E-01164173D3B3}"/>
              </a:ext>
            </a:extLst>
          </p:cNvPr>
          <p:cNvSpPr/>
          <p:nvPr/>
        </p:nvSpPr>
        <p:spPr>
          <a:xfrm>
            <a:off x="1228634" y="675447"/>
            <a:ext cx="1386550" cy="70620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182800" tIns="91400" rIns="182800" bIns="914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53809A-134D-23FA-B486-43A942068B74}"/>
              </a:ext>
            </a:extLst>
          </p:cNvPr>
          <p:cNvSpPr txBox="1"/>
          <p:nvPr/>
        </p:nvSpPr>
        <p:spPr>
          <a:xfrm>
            <a:off x="1228634" y="1601223"/>
            <a:ext cx="172971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Ads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Mail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Marketing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Up-Selling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có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vượt trội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chi phí thấp nhưng hiệu quả cao.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60–70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C72589A-D6ED-28CD-6353-10BA24F8FB79}"/>
              </a:ext>
            </a:extLst>
          </p:cNvPr>
          <p:cNvSpPr/>
          <p:nvPr/>
        </p:nvSpPr>
        <p:spPr>
          <a:xfrm>
            <a:off x="14125226" y="4397183"/>
            <a:ext cx="2034476" cy="9541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F8AC7D-31DD-9D72-E267-9C0F926AA851}"/>
              </a:ext>
            </a:extLst>
          </p:cNvPr>
          <p:cNvSpPr txBox="1"/>
          <p:nvPr/>
        </p:nvSpPr>
        <p:spPr>
          <a:xfrm>
            <a:off x="9272083" y="7613594"/>
            <a:ext cx="58430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Ưu tiên campaign ngắn (30-35 ngày) vì chúng vẫn đạt </a:t>
            </a:r>
            <a:r>
              <a:rPr lang="vi-V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  <a:r>
              <a:rPr lang="vi-V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cao (như </a:t>
            </a:r>
            <a:r>
              <a:rPr lang="vi-V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Campaign 8 Email</a:t>
            </a:r>
            <a:r>
              <a:rPr lang="vi-V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31 ngày, ROI 3,929%)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8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lãng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Tập trung tối ưu </a:t>
            </a:r>
            <a:r>
              <a:rPr lang="vi-V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nội dung + đối tượng </a:t>
            </a:r>
            <a:r>
              <a:rPr lang="vi-V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thay vì kéo thời gian.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E5043EC-C75F-8E3E-D909-54E8193A9F05}"/>
              </a:ext>
            </a:extLst>
          </p:cNvPr>
          <p:cNvSpPr/>
          <p:nvPr/>
        </p:nvSpPr>
        <p:spPr>
          <a:xfrm>
            <a:off x="17457803" y="7885952"/>
            <a:ext cx="6605821" cy="25968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Thời gian campaign không quyết định chi phí hay hiệu quả → chọn chiến lược và vùng tốt là quan trọng nhất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18A097-0973-AA2E-BEC1-7B23BD527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33" y="3201371"/>
            <a:ext cx="6156149" cy="33457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BE29FF-07EE-AF2C-426F-5A342DD4C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709" y="3220366"/>
            <a:ext cx="6156149" cy="33414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EB97CE-A64E-4A21-5016-2D52D27EE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101" y="6975980"/>
            <a:ext cx="7691286" cy="4892931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8367CB3D-6106-CA81-CAB7-B179E16CFF7D}"/>
              </a:ext>
            </a:extLst>
          </p:cNvPr>
          <p:cNvSpPr/>
          <p:nvPr/>
        </p:nvSpPr>
        <p:spPr>
          <a:xfrm>
            <a:off x="14917706" y="8794321"/>
            <a:ext cx="2034476" cy="9541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8F600E4-1877-B2DB-3F1F-2B472D5B62CB}"/>
              </a:ext>
            </a:extLst>
          </p:cNvPr>
          <p:cNvSpPr/>
          <p:nvPr/>
        </p:nvSpPr>
        <p:spPr>
          <a:xfrm>
            <a:off x="16482067" y="3433840"/>
            <a:ext cx="7105773" cy="29756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TV Advertising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456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D5510-7A3B-575E-D22B-4B40F890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Google Shape;80;g2e62dd08a28_1_4">
            <a:extLst>
              <a:ext uri="{FF2B5EF4-FFF2-40B4-BE49-F238E27FC236}">
                <a16:creationId xmlns:a16="http://schemas.microsoft.com/office/drawing/2014/main" id="{80D11DF4-2F1F-ADAA-1CF2-54DC765857BB}"/>
              </a:ext>
            </a:extLst>
          </p:cNvPr>
          <p:cNvSpPr txBox="1">
            <a:spLocks/>
          </p:cNvSpPr>
          <p:nvPr/>
        </p:nvSpPr>
        <p:spPr>
          <a:xfrm>
            <a:off x="2894980" y="679867"/>
            <a:ext cx="16045910" cy="706203"/>
          </a:xfrm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4800"/>
              </a:spcBef>
              <a:buSzPts val="5600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Next Steps</a:t>
            </a:r>
            <a:endParaRPr lang="en-US" sz="4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6" name="Google Shape;68;p2">
            <a:extLst>
              <a:ext uri="{FF2B5EF4-FFF2-40B4-BE49-F238E27FC236}">
                <a16:creationId xmlns:a16="http://schemas.microsoft.com/office/drawing/2014/main" id="{1901EEB4-6D24-6954-5ED1-C54694E823E3}"/>
              </a:ext>
            </a:extLst>
          </p:cNvPr>
          <p:cNvSpPr/>
          <p:nvPr/>
        </p:nvSpPr>
        <p:spPr>
          <a:xfrm>
            <a:off x="1228634" y="675447"/>
            <a:ext cx="1386550" cy="70620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182800" tIns="91400" rIns="182800" bIns="914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AE1A47-E8CA-FB45-EAB2-A3691EDCA36B}"/>
              </a:ext>
            </a:extLst>
          </p:cNvPr>
          <p:cNvSpPr txBox="1"/>
          <p:nvPr/>
        </p:nvSpPr>
        <p:spPr>
          <a:xfrm>
            <a:off x="1228634" y="2340864"/>
            <a:ext cx="1885159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Limitations: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campaigns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chồng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 có khóa liên kết trực tiếp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giữa bảng Marketing Campaign và bảng Sales Orders, nên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doanh thu và ROI theo thời gian chỉ mang tính ước lượng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 hiện tại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chưa xử lý attribution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khi nhiều chiến dịch cùng tác động lên doanh số tại một thời điểm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Chưa có dữ liệu chi tiết về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hành vi khách hàng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(retention, churn, CLV).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Thời gian dữ liệu còn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hạn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chưa đủ dài để phân tích xu hướng dài hạn.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A4713-D4A7-D541-318F-3A2D13165B87}"/>
              </a:ext>
            </a:extLst>
          </p:cNvPr>
          <p:cNvSpPr txBox="1"/>
          <p:nvPr/>
        </p:nvSpPr>
        <p:spPr>
          <a:xfrm>
            <a:off x="1228634" y="6858000"/>
            <a:ext cx="188515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</a:p>
          <a:p>
            <a:pPr marL="457200" indent="-457200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CLV, retention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cohort</a:t>
            </a:r>
          </a:p>
          <a:p>
            <a:pPr marL="457200" indent="-457200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campaign_id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Orders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Marketing Campaign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Chuẩn hóa data model nhằm mở rộng dashboard trong tương lai.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Chuẩn hóa dữ liệu theo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attribution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để phân tích ROI chính xác hơn.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06437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2e29926ef49_1_0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rot="-3727387">
            <a:off x="-5346574" y="-973619"/>
            <a:ext cx="18732437" cy="120419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g2e29926ef49_1_0"/>
          <p:cNvGrpSpPr/>
          <p:nvPr/>
        </p:nvGrpSpPr>
        <p:grpSpPr>
          <a:xfrm>
            <a:off x="10499821" y="2821077"/>
            <a:ext cx="12250411" cy="5964465"/>
            <a:chOff x="3726498" y="1325868"/>
            <a:chExt cx="4593330" cy="2085623"/>
          </a:xfrm>
        </p:grpSpPr>
        <p:grpSp>
          <p:nvGrpSpPr>
            <p:cNvPr id="137" name="Google Shape;137;g2e29926ef49_1_0"/>
            <p:cNvGrpSpPr/>
            <p:nvPr/>
          </p:nvGrpSpPr>
          <p:grpSpPr>
            <a:xfrm>
              <a:off x="4288649" y="1325868"/>
              <a:ext cx="697789" cy="657010"/>
              <a:chOff x="0" y="-66675"/>
              <a:chExt cx="812800" cy="765300"/>
            </a:xfrm>
          </p:grpSpPr>
          <p:sp>
            <p:nvSpPr>
              <p:cNvPr id="138" name="Google Shape;138;g2e29926ef49_1_0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 extrusionOk="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243825" tIns="121875" rIns="243825" bIns="1218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g2e29926ef49_1_0"/>
              <p:cNvSpPr txBox="1"/>
              <p:nvPr/>
            </p:nvSpPr>
            <p:spPr>
              <a:xfrm>
                <a:off x="114300" y="-66675"/>
                <a:ext cx="584100" cy="76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750" tIns="67750" rIns="67750" bIns="677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2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g2e29926ef49_1_0"/>
            <p:cNvGrpSpPr/>
            <p:nvPr/>
          </p:nvGrpSpPr>
          <p:grpSpPr>
            <a:xfrm>
              <a:off x="3726498" y="2369911"/>
              <a:ext cx="697789" cy="657010"/>
              <a:chOff x="0" y="-66675"/>
              <a:chExt cx="812800" cy="765300"/>
            </a:xfrm>
          </p:grpSpPr>
          <p:sp>
            <p:nvSpPr>
              <p:cNvPr id="141" name="Google Shape;141;g2e29926ef49_1_0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 extrusionOk="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243825" tIns="121875" rIns="243825" bIns="1218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g2e29926ef49_1_0"/>
              <p:cNvSpPr txBox="1"/>
              <p:nvPr/>
            </p:nvSpPr>
            <p:spPr>
              <a:xfrm>
                <a:off x="114300" y="-66675"/>
                <a:ext cx="584100" cy="76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750" tIns="67750" rIns="67750" bIns="677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2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46" name="Google Shape;146;g2e29926ef49_1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1407108">
              <a:off x="4492453" y="1483849"/>
              <a:ext cx="290159" cy="398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g2e29926ef49_1_0"/>
            <p:cNvSpPr txBox="1"/>
            <p:nvPr/>
          </p:nvSpPr>
          <p:spPr>
            <a:xfrm>
              <a:off x="5144928" y="1792443"/>
              <a:ext cx="3174900" cy="3013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40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300"/>
                <a:buFont typeface="Arial"/>
                <a:buNone/>
              </a:pPr>
              <a:r>
                <a:rPr lang="en-US" sz="4000" b="0" i="0" u="none" strike="noStrike" cap="none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(+84) 976278384</a:t>
              </a:r>
              <a:endParaRPr sz="40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g2e29926ef49_1_0"/>
            <p:cNvSpPr txBox="1"/>
            <p:nvPr/>
          </p:nvSpPr>
          <p:spPr>
            <a:xfrm>
              <a:off x="5144928" y="1383109"/>
              <a:ext cx="12558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00"/>
                <a:buFont typeface="Arial"/>
                <a:buNone/>
              </a:pPr>
              <a:r>
                <a:rPr lang="en-US" sz="4800" b="1" i="0" u="none" strike="noStrike" cap="none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</a:t>
              </a:r>
              <a:endParaRPr sz="4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0" name="Google Shape;150;g2e29926ef49_1_0"/>
            <p:cNvSpPr txBox="1"/>
            <p:nvPr/>
          </p:nvSpPr>
          <p:spPr>
            <a:xfrm>
              <a:off x="4527075" y="3110150"/>
              <a:ext cx="3056100" cy="3013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40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300"/>
                <a:buFont typeface="Arial"/>
                <a:buNone/>
              </a:pPr>
              <a:r>
                <a:rPr lang="en-US" sz="4000" b="0" i="0" u="none" strike="noStrike" cap="none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40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datkun0911@gmail.com</a:t>
              </a:r>
              <a:endParaRPr sz="40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1" name="Google Shape;151;g2e29926ef49_1_0"/>
            <p:cNvSpPr txBox="1"/>
            <p:nvPr/>
          </p:nvSpPr>
          <p:spPr>
            <a:xfrm>
              <a:off x="4572000" y="2700299"/>
              <a:ext cx="8946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00"/>
                <a:buFont typeface="Arial"/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</a:t>
              </a:r>
              <a:endParaRPr sz="4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4" name="Google Shape;154;g2e29926ef49_1_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99325" y="2522350"/>
              <a:ext cx="352125" cy="352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g2e29926ef49_1_0"/>
          <p:cNvSpPr/>
          <p:nvPr/>
        </p:nvSpPr>
        <p:spPr>
          <a:xfrm rot="-3706034">
            <a:off x="-5660311" y="-1069197"/>
            <a:ext cx="19415528" cy="12120366"/>
          </a:xfrm>
          <a:custGeom>
            <a:avLst/>
            <a:gdLst/>
            <a:ahLst/>
            <a:cxnLst/>
            <a:rect l="l" t="t" r="r" b="b"/>
            <a:pathLst>
              <a:path w="19438321" h="9719160" extrusionOk="0">
                <a:moveTo>
                  <a:pt x="0" y="0"/>
                </a:moveTo>
                <a:lnTo>
                  <a:pt x="19438321" y="0"/>
                </a:lnTo>
                <a:lnTo>
                  <a:pt x="19438321" y="9719161"/>
                </a:lnTo>
                <a:lnTo>
                  <a:pt x="0" y="97191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8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243825" tIns="121875" rIns="243825" bIns="1218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endParaRPr sz="3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g2e29926ef49_1_0"/>
          <p:cNvGrpSpPr/>
          <p:nvPr/>
        </p:nvGrpSpPr>
        <p:grpSpPr>
          <a:xfrm>
            <a:off x="1371771" y="7271781"/>
            <a:ext cx="7596149" cy="1802345"/>
            <a:chOff x="514350" y="2726884"/>
            <a:chExt cx="2848200" cy="675871"/>
          </a:xfrm>
        </p:grpSpPr>
        <p:cxnSp>
          <p:nvCxnSpPr>
            <p:cNvPr id="157" name="Google Shape;157;g2e29926ef49_1_0"/>
            <p:cNvCxnSpPr/>
            <p:nvPr/>
          </p:nvCxnSpPr>
          <p:spPr>
            <a:xfrm>
              <a:off x="539648" y="3402755"/>
              <a:ext cx="1298700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9" name="Google Shape;159;g2e29926ef49_1_0"/>
            <p:cNvSpPr txBox="1"/>
            <p:nvPr/>
          </p:nvSpPr>
          <p:spPr>
            <a:xfrm>
              <a:off x="514350" y="2726884"/>
              <a:ext cx="2848200" cy="670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00"/>
                <a:buFont typeface="Arial"/>
                <a:buNone/>
              </a:pPr>
              <a:r>
                <a:rPr lang="en-US" sz="8300" b="1" i="0" u="none" strike="noStrike" cap="none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CONTACT </a:t>
              </a:r>
              <a:r>
                <a:rPr lang="en-US" sz="8300" b="1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ME</a:t>
              </a:r>
              <a:endParaRPr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721</Words>
  <Application>Microsoft Office PowerPoint</Application>
  <PresentationFormat>Custom</PresentationFormat>
  <Paragraphs>79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Montserrat</vt:lpstr>
      <vt:lpstr>Times New Roman</vt:lpstr>
      <vt:lpstr>League Spartan</vt:lpstr>
      <vt:lpstr>Aptos Display</vt:lpstr>
      <vt:lpstr>Calibri</vt:lpstr>
      <vt:lpstr>Arial</vt:lpstr>
      <vt:lpstr>Aptos</vt:lpstr>
      <vt:lpstr>Office Theme</vt:lpstr>
      <vt:lpstr>PowerPoint Presentation</vt:lpstr>
      <vt:lpstr>NỘI DUNG CHÍNH </vt:lpstr>
      <vt:lpstr>Introduction &amp; Objective</vt:lpstr>
      <vt:lpstr>   Executive Summary</vt:lpstr>
      <vt:lpstr>Sales Performance Analysis</vt:lpstr>
      <vt:lpstr>Marketing &amp; Growth Analysis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Louis Twelve</dc:creator>
  <cp:lastModifiedBy>TRẦN PHÚC ĐẠT</cp:lastModifiedBy>
  <cp:revision>2</cp:revision>
  <dcterms:created xsi:type="dcterms:W3CDTF">2014-11-10T20:05:35Z</dcterms:created>
  <dcterms:modified xsi:type="dcterms:W3CDTF">2025-12-26T06:54:48Z</dcterms:modified>
</cp:coreProperties>
</file>